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02920" y="640080"/>
            <a:ext cx="11155680" cy="5577840"/>
          </a:xfrm>
          <a:prstGeom prst="rtTriangle">
            <a:avLst/>
          </a:prstGeom>
          <a:solidFill>
            <a:srgbClr val="3EE6C4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502920" y="2377440"/>
            <a:ext cx="8412480" cy="38404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053328"/>
            <a:ext cx="274320" cy="274320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" y="6117336"/>
            <a:ext cx="146304" cy="146304"/>
          </a:xfrm>
          <a:prstGeom prst="ellipse">
            <a:avLst/>
          </a:prstGeom>
          <a:solidFill>
            <a:srgbClr val="0E0C1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MAPPING SDK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5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Engine-Agnostic Projection</a:t>
            </a:r>
            <a:endParaRPr lang="en-US" sz="4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5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in Modern C++20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Warping, edge blending, calibration and geometry math as one standalone native library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rendering, no engine code, one stable C ABI for every host.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800600"/>
            <a:ext cx="850392" cy="384048"/>
          </a:xfrm>
          <a:prstGeom prst="roundRect">
            <a:avLst>
              <a:gd name="adj" fmla="val 50000"/>
            </a:avLst>
          </a:prstGeom>
          <a:solidFill>
            <a:srgbClr val="3EE6C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80060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4800600"/>
            <a:ext cx="772668" cy="384048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4800600"/>
            <a:ext cx="77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02636" y="4800600"/>
            <a:ext cx="1239012" cy="384048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/>
        </p:spPr>
      </p:sp>
      <p:sp>
        <p:nvSpPr>
          <p:cNvPr id="14" name="Text 12"/>
          <p:cNvSpPr/>
          <p:nvPr/>
        </p:nvSpPr>
        <p:spPr>
          <a:xfrm>
            <a:off x="2802636" y="4800600"/>
            <a:ext cx="12390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x64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42816" y="4800600"/>
            <a:ext cx="2171700" cy="384048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/>
        </p:spPr>
      </p:sp>
      <p:sp>
        <p:nvSpPr>
          <p:cNvPr id="16" name="Text 14"/>
          <p:cNvSpPr/>
          <p:nvPr/>
        </p:nvSpPr>
        <p:spPr>
          <a:xfrm>
            <a:off x="4242816" y="4800600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· Unreal · Native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806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github.com/vinayak-vc/ProjectionMappingC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1.0.3  ·  github.com/vinayak-vc/ProjectionMappingC/releases/tag/1.0.3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SDK, Every Engine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221D3F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572768"/>
            <a:ext cx="475488" cy="475488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1696395"/>
            <a:ext cx="228234" cy="2282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16093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68680" y="2176272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computation of professional projection mapping tools — the Resolume / MadMapper / TouchDesigner class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C++20 library: warping, edge blending, calibration, mesh &amp; geometry math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 API — opaque handles + status codes — built for P/Invoke and FFI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DLL / .so / .dylib or static lib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9632" y="13258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221D3F"/>
          </a:solidFill>
          <a:ln/>
        </p:spPr>
      </p:sp>
      <p:sp>
        <p:nvSpPr>
          <p:cNvPr id="14" name="Shape 11"/>
          <p:cNvSpPr/>
          <p:nvPr/>
        </p:nvSpPr>
        <p:spPr>
          <a:xfrm>
            <a:off x="6473952" y="1572768"/>
            <a:ext cx="475488" cy="475488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579" y="1696395"/>
            <a:ext cx="228234" cy="2282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95744" y="16093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19672" y="2176272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Unity project or an Unreal plugin — those consume the SDK via thin wrappers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rendering: zero DirectX / OpenGL / Vulkan, no GUI, no engine includes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algorithms in C# or Blueprints — computation always stays native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graphical belongs to the host application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5285232"/>
            <a:ext cx="1565453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5285232"/>
            <a:ext cx="156545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(P/Invoke)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278685" y="5285232"/>
            <a:ext cx="1490472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278685" y="5285232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(plugin)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933749" y="5285232"/>
            <a:ext cx="740664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933749" y="5285232"/>
            <a:ext cx="740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839005" y="5285232"/>
            <a:ext cx="515722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39005" y="5285232"/>
            <a:ext cx="5157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519318" y="5285232"/>
            <a:ext cx="1115568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19318" y="528523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C++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799478" y="5285232"/>
            <a:ext cx="515722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99478" y="5285232"/>
            <a:ext cx="5157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479792" y="5285232"/>
            <a:ext cx="665683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479792" y="5285232"/>
            <a:ext cx="6656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310067" y="5285232"/>
            <a:ext cx="1565453" cy="420624"/>
          </a:xfrm>
          <a:prstGeom prst="roundRect">
            <a:avLst>
              <a:gd name="adj" fmla="val 50000"/>
            </a:avLst>
          </a:prstGeom>
          <a:solidFill>
            <a:srgbClr val="2A2452"/>
          </a:solidFill>
          <a:ln w="9525">
            <a:solidFill>
              <a:srgbClr val="3A346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10067" y="5285232"/>
            <a:ext cx="156545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planned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bar: commercial-grade — 90% test coverage target, Doxygen on all public functions, thread-safe subsystems, no crashes across the API boundary.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Modules, One Library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5024" y="1545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8096" y="2039112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Context, logging facade, error codes, typed config, versioning, handles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389120" y="1325880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14" name="Shape 11"/>
          <p:cNvSpPr/>
          <p:nvPr/>
        </p:nvSpPr>
        <p:spPr>
          <a:xfrm>
            <a:off x="4590288" y="1527048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64592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75504" y="1545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08576" y="2039112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Vector2/3/4, Quaternion, Matrix4, Transform, BoundingBox, Ray, Plane — constexpr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229600" y="1325880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19" name="Shape 15"/>
          <p:cNvSpPr/>
          <p:nvPr/>
        </p:nvSpPr>
        <p:spPr>
          <a:xfrm>
            <a:off x="8430768" y="1527048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645920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15984" y="1545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49056" y="2039112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+ builder + subdivision, BVH, KD-tree, ray intersection, Bezier / spline, UV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548640" y="2990088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24" name="Shape 19"/>
          <p:cNvSpPr/>
          <p:nvPr/>
        </p:nvSpPr>
        <p:spPr>
          <a:xfrm>
            <a:off x="749808" y="3191256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10128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35024" y="3209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68096" y="3703320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mesh, surface &amp; camera, projection matrix, homography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389120" y="2990088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29" name="Shape 23"/>
          <p:cNvSpPr/>
          <p:nvPr/>
        </p:nvSpPr>
        <p:spPr>
          <a:xfrm>
            <a:off x="4590288" y="3191256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10128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75504" y="3209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608576" y="3703320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/ Bezier / bicubic / perspective / mesh warp, WarpNode graph, vertex editing</a:t>
            </a:r>
            <a:endParaRPr lang="en-US" sz="1080" dirty="0"/>
          </a:p>
        </p:txBody>
      </p:sp>
      <p:sp>
        <p:nvSpPr>
          <p:cNvPr id="33" name="Shape 26"/>
          <p:cNvSpPr/>
          <p:nvPr/>
        </p:nvSpPr>
        <p:spPr>
          <a:xfrm>
            <a:off x="8229600" y="2990088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34" name="Shape 27"/>
          <p:cNvSpPr/>
          <p:nvPr/>
        </p:nvSpPr>
        <p:spPr>
          <a:xfrm>
            <a:off x="8430768" y="3191256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310128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015984" y="3209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8449056" y="3703320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regions &amp; curves, gamma, black level, LUT + mask generation</a:t>
            </a:r>
            <a:endParaRPr lang="en-US" sz="1080" dirty="0"/>
          </a:p>
        </p:txBody>
      </p:sp>
      <p:sp>
        <p:nvSpPr>
          <p:cNvPr id="38" name="Shape 30"/>
          <p:cNvSpPr/>
          <p:nvPr/>
        </p:nvSpPr>
        <p:spPr>
          <a:xfrm>
            <a:off x="548640" y="4654296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39" name="Shape 31"/>
          <p:cNvSpPr/>
          <p:nvPr/>
        </p:nvSpPr>
        <p:spPr>
          <a:xfrm>
            <a:off x="749808" y="485546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974336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335024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600" dirty="0"/>
          </a:p>
        </p:txBody>
      </p:sp>
      <p:sp>
        <p:nvSpPr>
          <p:cNvPr id="42" name="Text 33"/>
          <p:cNvSpPr/>
          <p:nvPr/>
        </p:nvSpPr>
        <p:spPr>
          <a:xfrm>
            <a:off x="768096" y="5367528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projector calibration, chessboard, ArUco, AprilTags, GrayCode, pose</a:t>
            </a:r>
            <a:endParaRPr lang="en-US" sz="1080" dirty="0"/>
          </a:p>
        </p:txBody>
      </p:sp>
      <p:sp>
        <p:nvSpPr>
          <p:cNvPr id="43" name="Shape 34"/>
          <p:cNvSpPr/>
          <p:nvPr/>
        </p:nvSpPr>
        <p:spPr>
          <a:xfrm>
            <a:off x="4389120" y="4654296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44" name="Shape 35"/>
          <p:cNvSpPr/>
          <p:nvPr/>
        </p:nvSpPr>
        <p:spPr>
          <a:xfrm>
            <a:off x="4590288" y="485546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974336"/>
            <a:ext cx="219456" cy="21945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175504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1600" dirty="0"/>
          </a:p>
        </p:txBody>
      </p:sp>
      <p:sp>
        <p:nvSpPr>
          <p:cNvPr id="47" name="Text 37"/>
          <p:cNvSpPr/>
          <p:nvPr/>
        </p:nvSpPr>
        <p:spPr>
          <a:xfrm>
            <a:off x="4608576" y="5367528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binary project files, versioned — WarpNode, Mesh, BlendConfig</a:t>
            </a:r>
            <a:endParaRPr lang="en-US" sz="1080" dirty="0"/>
          </a:p>
        </p:txBody>
      </p:sp>
      <p:sp>
        <p:nvSpPr>
          <p:cNvPr id="48" name="Shape 38"/>
          <p:cNvSpPr/>
          <p:nvPr/>
        </p:nvSpPr>
        <p:spPr>
          <a:xfrm>
            <a:off x="8229600" y="4654296"/>
            <a:ext cx="36576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49" name="Shape 39"/>
          <p:cNvSpPr/>
          <p:nvPr/>
        </p:nvSpPr>
        <p:spPr>
          <a:xfrm>
            <a:off x="8430768" y="485546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4974336"/>
            <a:ext cx="219456" cy="21945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9015984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600" dirty="0"/>
          </a:p>
        </p:txBody>
      </p:sp>
      <p:sp>
        <p:nvSpPr>
          <p:cNvPr id="52" name="Text 41"/>
          <p:cNvSpPr/>
          <p:nvPr/>
        </p:nvSpPr>
        <p:spPr>
          <a:xfrm>
            <a:off x="8449056" y="5367528"/>
            <a:ext cx="3218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IO, thread pool, profiling, timers, memory pool — cross-cutting</a:t>
            </a:r>
            <a:endParaRPr lang="en-US" sz="1080" dirty="0"/>
          </a:p>
        </p:txBody>
      </p:sp>
      <p:sp>
        <p:nvSpPr>
          <p:cNvPr id="53" name="Text 42"/>
          <p:cNvSpPr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 never depend on each other — coordination happens above, in Serialization, the C API, or the host app.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— Dependencies Point Down Only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1371600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221D3F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37160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API   </a:t>
            </a:r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 ABI — opaque handles, status codes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2011680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221D3F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01168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  </a:t>
            </a:r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files: JSON + binary, versioned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2651760"/>
            <a:ext cx="1344168" cy="512064"/>
          </a:xfrm>
          <a:prstGeom prst="roundRect">
            <a:avLst>
              <a:gd name="adj" fmla="val 14286"/>
            </a:avLst>
          </a:prstGeom>
          <a:solidFill>
            <a:srgbClr val="2A245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51760"/>
            <a:ext cx="1344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23744" y="2651760"/>
            <a:ext cx="1344168" cy="512064"/>
          </a:xfrm>
          <a:prstGeom prst="roundRect">
            <a:avLst>
              <a:gd name="adj" fmla="val 14286"/>
            </a:avLst>
          </a:prstGeom>
          <a:solidFill>
            <a:srgbClr val="2A245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2651760"/>
            <a:ext cx="1344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95928" y="2651760"/>
            <a:ext cx="1344168" cy="512064"/>
          </a:xfrm>
          <a:prstGeom prst="roundRect">
            <a:avLst>
              <a:gd name="adj" fmla="val 14286"/>
            </a:avLst>
          </a:prstGeom>
          <a:solidFill>
            <a:srgbClr val="2A245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5928" y="2651760"/>
            <a:ext cx="1344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68112" y="2651760"/>
            <a:ext cx="1344168" cy="512064"/>
          </a:xfrm>
          <a:prstGeom prst="roundRect">
            <a:avLst>
              <a:gd name="adj" fmla="val 14286"/>
            </a:avLst>
          </a:prstGeom>
          <a:solidFill>
            <a:srgbClr val="2A245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2651760"/>
            <a:ext cx="1344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51560" y="3291840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221D3F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728" y="329184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  </a:t>
            </a:r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mesh, spatial structures, curves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51560" y="3931920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221D3F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2728" y="393192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 </a:t>
            </a:r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vectors, matrices, transforms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1560" y="4572000"/>
            <a:ext cx="5760720" cy="512064"/>
          </a:xfrm>
          <a:prstGeom prst="roundRect">
            <a:avLst>
              <a:gd name="adj" fmla="val 14286"/>
            </a:avLst>
          </a:prstGeom>
          <a:solidFill>
            <a:srgbClr val="221D3F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4572000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 </a:t>
            </a:r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logging, version, config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1560" y="5212080"/>
            <a:ext cx="5760720" cy="420624"/>
          </a:xfrm>
          <a:prstGeom prst="roundRect">
            <a:avLst>
              <a:gd name="adj" fmla="val 17391"/>
            </a:avLst>
          </a:prstGeom>
          <a:solidFill>
            <a:srgbClr val="16132A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21208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— cross-cutting, depends only on Core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3232" y="1463040"/>
            <a:ext cx="0" cy="402336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84048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69480" y="137160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221D3F"/>
          </a:solidFill>
          <a:ln/>
        </p:spPr>
      </p:sp>
      <p:sp>
        <p:nvSpPr>
          <p:cNvPr id="31" name="Shape 29"/>
          <p:cNvSpPr/>
          <p:nvPr/>
        </p:nvSpPr>
        <p:spPr>
          <a:xfrm>
            <a:off x="7516368" y="160934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28216"/>
            <a:ext cx="219456" cy="21945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119872" y="1645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543800" y="2212848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never depends on higher modules — no circular dependencies, ever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/ Warp / Blend / Calibration may use Geometry, Math, Core, Utilities — never each other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confined to Calibration; GLM, spdlog, nlohmann-json never appear in public headers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headers expose only std types and PMSDK types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PMSDK_API symbols exported; hidden visibility elsewhere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ABI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API Is the Contract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806440" cy="4892040"/>
          </a:xfrm>
          <a:prstGeom prst="roundRect">
            <a:avLst>
              <a:gd name="adj" fmla="val 1495"/>
            </a:avLst>
          </a:prstGeom>
          <a:solidFill>
            <a:srgbClr val="0F0D2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consumer.c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&lt;PMSDK/PMSDK_C.h&gt;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pmsdk_mesh_t*     mesh = pmsdk_mesh_create();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pmsdk_warpnode_t* node = pmsdk_warpnode_create();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pmsdk_mesh_t*     out  = pmsdk_mesh_create();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populate vertices / indices ... */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(pmsdk_warpnode_process_mesh(node, mesh, out)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== PMSDK_SUCCESS) {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warped vertices ready for host GPU */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pmsdk_warpnode_destroy(node);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pmsdk_mesh_destroy(out);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pmsdk_mesh_destroy(mesh);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1426464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8762" y="1535826"/>
            <a:ext cx="201900" cy="2019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05472" y="1371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handles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205472" y="16642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lives behind *_create() / *_destroy() — no C++ types, no STL at the boundary</a:t>
            </a:r>
            <a:endParaRPr lang="en-US" sz="1130" dirty="0"/>
          </a:p>
        </p:txBody>
      </p:sp>
      <p:sp>
        <p:nvSpPr>
          <p:cNvPr id="15" name="Shape 12"/>
          <p:cNvSpPr/>
          <p:nvPr/>
        </p:nvSpPr>
        <p:spPr>
          <a:xfrm>
            <a:off x="6629400" y="2414016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762" y="2523378"/>
            <a:ext cx="201900" cy="2019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05472" y="23591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+ last error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205472" y="26517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returns pmsdk_status_t; PM_GetLastError() gives per-thread detail — errno style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6629400" y="3401568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762" y="3510930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05472" y="33467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never escape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205472" y="363931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may throw internally; all exceptions caught and translated at the C boundary — never crash</a:t>
            </a:r>
            <a:endParaRPr lang="en-US" sz="1130" dirty="0"/>
          </a:p>
        </p:txBody>
      </p:sp>
      <p:sp>
        <p:nvSpPr>
          <p:cNvPr id="23" name="Shape 18"/>
          <p:cNvSpPr/>
          <p:nvPr/>
        </p:nvSpPr>
        <p:spPr>
          <a:xfrm>
            <a:off x="6629400" y="4389120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762" y="4498482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05472" y="43342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handshake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205472" y="462686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PM_GetVersion() at runtime vs kHeaderVersion at compile time — drift breaks the build, not the user</a:t>
            </a:r>
            <a:endParaRPr lang="en-US" sz="1130" dirty="0"/>
          </a:p>
        </p:txBody>
      </p:sp>
      <p:sp>
        <p:nvSpPr>
          <p:cNvPr id="27" name="Shape 21"/>
          <p:cNvSpPr/>
          <p:nvPr/>
        </p:nvSpPr>
        <p:spPr>
          <a:xfrm>
            <a:off x="6629400" y="5376672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762" y="5486034"/>
            <a:ext cx="201900" cy="2019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05472" y="5321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headers = convenience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7205472" y="56144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consumers may use pmsdk:: classes, but ABI stability is promised only for the C API (D-006)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That Shape the Code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508760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1618122"/>
            <a:ext cx="201900" cy="2019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508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Generation-checked handles (D-010)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49808" y="1929384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handle = 32-bit generation + 32-bit slot. Generation bumps on remove, so stale handles fail lookup instead of aliasing reused slots; shared_ptr storage keeps concurrently-removed objects alive.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6199632" y="132588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14" name="Shape 11"/>
          <p:cNvSpPr/>
          <p:nvPr/>
        </p:nvSpPr>
        <p:spPr>
          <a:xfrm>
            <a:off x="6382512" y="1508760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874" y="1618122"/>
            <a:ext cx="201900" cy="201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31152" y="1508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PImpl + per-method export (D-009, D-015)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800" y="1929384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containers hidden behind PImpl; each public method exported individually instead of dllexport-ing whole classes — dodges MSVC C4251 under /W4 /WX.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548640" y="2953512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19" name="Shape 15"/>
          <p:cNvSpPr/>
          <p:nvPr/>
        </p:nvSpPr>
        <p:spPr>
          <a:xfrm>
            <a:off x="731520" y="3136392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3245754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136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Thread-local last error (D-011)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49808" y="3557016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errno-style PM_GetLastError backed by function-local thread_local Status — the single sanctioned exception to the “no static mutable state” rule.</a:t>
            </a:r>
            <a:endParaRPr lang="en-US" sz="1060" dirty="0"/>
          </a:p>
        </p:txBody>
      </p:sp>
      <p:sp>
        <p:nvSpPr>
          <p:cNvPr id="23" name="Shape 18"/>
          <p:cNvSpPr/>
          <p:nvPr/>
        </p:nvSpPr>
        <p:spPr>
          <a:xfrm>
            <a:off x="6199632" y="2953512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24" name="Shape 19"/>
          <p:cNvSpPr/>
          <p:nvPr/>
        </p:nvSpPr>
        <p:spPr>
          <a:xfrm>
            <a:off x="6382512" y="3136392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874" y="3245754"/>
            <a:ext cx="201900" cy="2019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31152" y="3136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constexpr math (D-012)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00800" y="3557016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Vector / Matrix / Quaternion are plain value types — no glm in public headers, no PImpl overhead on hot math, 16-byte aligned and SIMD-ready.</a:t>
            </a:r>
            <a:endParaRPr lang="en-US" sz="1060" dirty="0"/>
          </a:p>
        </p:txBody>
      </p:sp>
      <p:sp>
        <p:nvSpPr>
          <p:cNvPr id="28" name="Shape 22"/>
          <p:cNvSpPr/>
          <p:nvPr/>
        </p:nvSpPr>
        <p:spPr>
          <a:xfrm>
            <a:off x="548640" y="4581144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29" name="Shape 23"/>
          <p:cNvSpPr/>
          <p:nvPr/>
        </p:nvSpPr>
        <p:spPr>
          <a:xfrm>
            <a:off x="731520" y="4764024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82" y="4873386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80160" y="47640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vertex layout (D-014)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749808" y="5184648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= interleaved Position, Normal, UV, Color. Cache-friendly, covers ~99% of projection mapping use cases without flexible-format complexity.</a:t>
            </a:r>
            <a:endParaRPr lang="en-US" sz="1060" dirty="0"/>
          </a:p>
        </p:txBody>
      </p:sp>
      <p:sp>
        <p:nvSpPr>
          <p:cNvPr id="33" name="Shape 26"/>
          <p:cNvSpPr/>
          <p:nvPr/>
        </p:nvSpPr>
        <p:spPr>
          <a:xfrm>
            <a:off x="6199632" y="4581144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221D3F"/>
          </a:solidFill>
          <a:ln/>
        </p:spPr>
      </p:sp>
      <p:sp>
        <p:nvSpPr>
          <p:cNvPr id="34" name="Shape 27"/>
          <p:cNvSpPr/>
          <p:nvPr/>
        </p:nvSpPr>
        <p:spPr>
          <a:xfrm>
            <a:off x="6382512" y="4764024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874" y="4873386"/>
            <a:ext cx="201900" cy="2019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931152" y="47640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globals, no singletons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6400800" y="5184648"/>
            <a:ext cx="5084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 object owns Logger + Config; RAII everywhere, thread-safe subsystems, std::span and smart pointers throughout.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Meshes: Edit Freely, Render Fast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221D3F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DynamicMesh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1248" y="230428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Topology-aware: add / remove vertices &amp; faces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queries for interactive tools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editing sessions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542032"/>
            <a:ext cx="1143000" cy="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489204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89320" y="146304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221D3F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45352" y="170078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81965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30568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281928" y="230428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buffers, highly optimized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rendering &amp; drawing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warp pipeline consumes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40233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21D3F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4206240"/>
            <a:ext cx="402336" cy="402336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4310847"/>
            <a:ext cx="193121" cy="19312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7000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MeshBuilder + Subdivision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731520" y="5120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construction, refinement</a:t>
            </a:r>
            <a:endParaRPr lang="en-US" sz="1020" dirty="0"/>
          </a:p>
        </p:txBody>
      </p:sp>
      <p:sp>
        <p:nvSpPr>
          <p:cNvPr id="25" name="Shape 20"/>
          <p:cNvSpPr/>
          <p:nvPr/>
        </p:nvSpPr>
        <p:spPr>
          <a:xfrm>
            <a:off x="3383280" y="40233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21D3F"/>
          </a:solidFill>
          <a:ln/>
        </p:spPr>
      </p:sp>
      <p:sp>
        <p:nvSpPr>
          <p:cNvPr id="26" name="Shape 21"/>
          <p:cNvSpPr/>
          <p:nvPr/>
        </p:nvSpPr>
        <p:spPr>
          <a:xfrm>
            <a:off x="3566160" y="4206240"/>
            <a:ext cx="402336" cy="402336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767" y="4310847"/>
            <a:ext cx="193121" cy="19312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566160" y="47000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BVH + KD-Tree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3566160" y="5120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queries, fast ray intersection</a:t>
            </a:r>
            <a:endParaRPr lang="en-US" sz="1020" dirty="0"/>
          </a:p>
        </p:txBody>
      </p:sp>
      <p:sp>
        <p:nvSpPr>
          <p:cNvPr id="30" name="Shape 24"/>
          <p:cNvSpPr/>
          <p:nvPr/>
        </p:nvSpPr>
        <p:spPr>
          <a:xfrm>
            <a:off x="6217920" y="40233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21D3F"/>
          </a:solidFill>
          <a:ln/>
        </p:spPr>
      </p:sp>
      <p:sp>
        <p:nvSpPr>
          <p:cNvPr id="31" name="Shape 25"/>
          <p:cNvSpPr/>
          <p:nvPr/>
        </p:nvSpPr>
        <p:spPr>
          <a:xfrm>
            <a:off x="6400800" y="4206240"/>
            <a:ext cx="402336" cy="402336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407" y="4310847"/>
            <a:ext cx="193121" cy="19312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400800" y="47000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Bezier &amp; Splines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6400800" y="5120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Curves, patches, control grids</a:t>
            </a:r>
            <a:endParaRPr lang="en-US" sz="1020" dirty="0"/>
          </a:p>
        </p:txBody>
      </p:sp>
      <p:sp>
        <p:nvSpPr>
          <p:cNvPr id="35" name="Shape 28"/>
          <p:cNvSpPr/>
          <p:nvPr/>
        </p:nvSpPr>
        <p:spPr>
          <a:xfrm>
            <a:off x="9052560" y="40233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221D3F"/>
          </a:solidFill>
          <a:ln/>
        </p:spPr>
      </p:sp>
      <p:sp>
        <p:nvSpPr>
          <p:cNvPr id="36" name="Shape 29"/>
          <p:cNvSpPr/>
          <p:nvPr/>
        </p:nvSpPr>
        <p:spPr>
          <a:xfrm>
            <a:off x="9235440" y="4206240"/>
            <a:ext cx="402336" cy="402336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047" y="4310847"/>
            <a:ext cx="193121" cy="193121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235440" y="47000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MeshOptimizer + UV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9235440" y="5120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welding, smooth normals, UV mapping</a:t>
            </a:r>
            <a:endParaRPr lang="en-US" sz="1020" dirty="0"/>
          </a:p>
        </p:txBody>
      </p:sp>
      <p:sp>
        <p:nvSpPr>
          <p:cNvPr id="40" name="Text 3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manipulate the DynamicMesh in tooling, then bake to an immutable Mesh for the render path (D-016).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Graph of Warped Surfaces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221D3F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41732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WarpNode — root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transform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269748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221D3F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6974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WarpNode — group A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transform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0" y="269748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221D3F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2697480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WarpNode — group B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21D3F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06908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Bezier field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51760" y="40690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21D3F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406908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Grid field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406908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21D3F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4069080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DeformationField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1984248"/>
            <a:ext cx="-1005840" cy="713232"/>
          </a:xfrm>
          <a:prstGeom prst="line">
            <a:avLst/>
          </a:prstGeom>
          <a:noFill/>
          <a:ln w="25400">
            <a:solidFill>
              <a:srgbClr val="A49D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31920" y="1984248"/>
            <a:ext cx="1005840" cy="713232"/>
          </a:xfrm>
          <a:prstGeom prst="line">
            <a:avLst/>
          </a:prstGeom>
          <a:noFill/>
          <a:ln w="25400">
            <a:solidFill>
              <a:srgbClr val="A49D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28800" y="3264408"/>
            <a:ext cx="-320040" cy="804672"/>
          </a:xfrm>
          <a:prstGeom prst="line">
            <a:avLst/>
          </a:prstGeom>
          <a:noFill/>
          <a:ln w="25400">
            <a:solidFill>
              <a:srgbClr val="A49DC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68880" y="3264408"/>
            <a:ext cx="1143000" cy="804672"/>
          </a:xfrm>
          <a:prstGeom prst="line">
            <a:avLst/>
          </a:prstGeom>
          <a:noFill/>
          <a:ln w="25400">
            <a:solidFill>
              <a:srgbClr val="A49DC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94960" y="3264408"/>
            <a:ext cx="320040" cy="804672"/>
          </a:xfrm>
          <a:prstGeom prst="line">
            <a:avLst/>
          </a:prstGeom>
          <a:noFill/>
          <a:ln w="25400">
            <a:solidFill>
              <a:srgbClr val="A49DC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8640" y="5257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slice-grouping model of Resolume Arena and MadMapper (D-017).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95160" y="1371600"/>
            <a:ext cx="4645152" cy="4480560"/>
          </a:xfrm>
          <a:prstGeom prst="roundRect">
            <a:avLst>
              <a:gd name="adj" fmla="val 1633"/>
            </a:avLst>
          </a:prstGeom>
          <a:solidFill>
            <a:srgbClr val="221D3F"/>
          </a:solidFill>
          <a:ln/>
        </p:spPr>
      </p:sp>
      <p:sp>
        <p:nvSpPr>
          <p:cNvPr id="27" name="Shape 25"/>
          <p:cNvSpPr/>
          <p:nvPr/>
        </p:nvSpPr>
        <p:spPr>
          <a:xfrm>
            <a:off x="7242048" y="160934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728216"/>
            <a:ext cx="219456" cy="21945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845552" y="1645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warping works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269480" y="2212848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carries a local transform; groups apply spatial transforms on top of child deformations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 attach an optional DeformationField — Bezier patch or grid warp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maps content through the hierarchy; Sampler evaluates warped UVs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vertex editing API with control grids — undo / redo ready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pmsdk_warpnode_process_mesh() deforms an input Mesh into an output Mesh, fully native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Multi-Projector Output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projectors, one wall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8B7CF0">
              <a:alpha val="45000"/>
            </a:srgbClr>
          </a:solidFill>
          <a:ln w="15875">
            <a:solidFill>
              <a:srgbClr val="8B7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920240"/>
            <a:ext cx="3383280" cy="2011680"/>
          </a:xfrm>
          <a:prstGeom prst="roundRect">
            <a:avLst>
              <a:gd name="adj" fmla="val 2273"/>
            </a:avLst>
          </a:prstGeom>
          <a:solidFill>
            <a:srgbClr val="3EE6C4">
              <a:alpha val="45000"/>
            </a:srgbClr>
          </a:solidFill>
          <a:ln w="15875">
            <a:solidFill>
              <a:srgbClr val="3EE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920240"/>
            <a:ext cx="1097280" cy="2011680"/>
          </a:xfrm>
          <a:prstGeom prst="rect">
            <a:avLst/>
          </a:prstGeom>
          <a:solidFill>
            <a:srgbClr val="FFB454">
              <a:alpha val="5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region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1883664"/>
            <a:ext cx="0" cy="265176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Soft-edge gradients with configurable blend curves per region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Gamma-correct falloff — perceptually linear crossfade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Black-level lift so overlap zones match single-projector black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Luminance compensation across heterogeneous projectors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1463040"/>
            <a:ext cx="4645152" cy="4389120"/>
          </a:xfrm>
          <a:prstGeom prst="roundRect">
            <a:avLst>
              <a:gd name="adj" fmla="val 1667"/>
            </a:avLst>
          </a:prstGeom>
          <a:solidFill>
            <a:srgbClr val="221D3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42048" y="170078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819656"/>
            <a:ext cx="219456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45552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SDK emits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269480" y="2304288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BlendConfig — declarative description of regions, curves, gamma and black level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LUTs the host samples in its own shader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masks per projector for GPU composite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EdgeBlend + MaskGenerator run fully on the CPU side — the SDK never touches your GPU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269480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BlendConfig is exposed through the C API (D-018), so hosts can preview and tweak interactively.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Real-World Surface to Digital Twin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08176"/>
            <a:ext cx="457200" cy="457200"/>
          </a:xfrm>
          <a:prstGeom prst="ellipse">
            <a:avLst/>
          </a:prstGeom>
          <a:solidFill>
            <a:srgbClr val="221D3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2704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3716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projector calibration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70432" y="17007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Intrinsics + extrinsics via OpenCV — chessboard, ArUco and AprilTag targets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21D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0604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0432" y="24505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light (GrayCode)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170432" y="27797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generation, capture and decode — GrayCodeDecoder + triangulation (M17)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21D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6850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5295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solver &amp; pose estimation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70432" y="38587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Plane-to-plane mapping and full 6-DoF projector pose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645152"/>
            <a:ext cx="457200" cy="457200"/>
          </a:xfrm>
          <a:prstGeom prst="ellipse">
            <a:avLst/>
          </a:prstGeom>
          <a:solidFill>
            <a:srgbClr val="221D3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7640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70432" y="46085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for tooling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170432" y="49377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Warped geometry readable through the C API for engine-agnostic previews (D-018)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995160" y="1371600"/>
            <a:ext cx="4645152" cy="3657600"/>
          </a:xfrm>
          <a:prstGeom prst="roundRect">
            <a:avLst>
              <a:gd name="adj" fmla="val 2000"/>
            </a:avLst>
          </a:prstGeom>
          <a:solidFill>
            <a:srgbClr val="221D3F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242048" y="1609344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72821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45552" y="1645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camera capture (D-019)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7269480" y="22860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the host engine grabbing WebCam frames, allocating Texture2D memory on the main thread and marshalling them across, the GrayCodeDecoder binds straight to the physical camera with cv::VideoCapture.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269480" y="37947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memory and frame extraction stay entirely off the host main thread — zero-lag calibration inside Unity and Unreal.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is confined to the Calibration module — no other module, and no public header, ever sees 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Host Frame to Warped Output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9844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221D3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472184"/>
            <a:ext cx="365760" cy="365760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472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1371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98448" y="1664208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(Unity / Unreal / native) opens the SDK through the C API — opaque handles, status codes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932688" y="1993392"/>
            <a:ext cx="0" cy="13716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211226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221D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2286000"/>
            <a:ext cx="365760" cy="365760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21854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geometry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98448" y="2478024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MeshBuilder or loaded asset; edit as DynamicMesh, bake to render Mesh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932688" y="2807208"/>
            <a:ext cx="0" cy="13716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292608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221D3F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099816"/>
            <a:ext cx="365760" cy="365760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29992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WarpNode graph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98448" y="3291840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slices; per-node transform plus optional DeformationField (Bezier / grid)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932688" y="3621024"/>
            <a:ext cx="0" cy="13716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3739896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221D3F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3913632"/>
            <a:ext cx="365760" cy="365760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98448" y="38130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processing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98448" y="41056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pmsdk_warpnode_process_mesh() deforms vertices — SIMD + multithreaded native C++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932688" y="4434840"/>
            <a:ext cx="0" cy="13716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4553712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221D3F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" y="4727448"/>
            <a:ext cx="365760" cy="365760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98448" y="462686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&amp; masks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298448" y="4919472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Edge-blend LUTs and per-projector masks generated for the host GPU composite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32688" y="5248656"/>
            <a:ext cx="0" cy="13716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8640" y="536752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221D3F"/>
          </a:solidFill>
          <a:ln/>
        </p:spPr>
      </p:sp>
      <p:sp>
        <p:nvSpPr>
          <p:cNvPr id="39" name="Shape 37"/>
          <p:cNvSpPr/>
          <p:nvPr/>
        </p:nvSpPr>
        <p:spPr>
          <a:xfrm>
            <a:off x="749808" y="5541264"/>
            <a:ext cx="365760" cy="365760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541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98448" y="54406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&amp; render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298448" y="5733288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pmsdk_mesh_get_vertices() returns warped geometry — host draws it with its own renderer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7498080" y="1298448"/>
            <a:ext cx="4142232" cy="2286000"/>
          </a:xfrm>
          <a:prstGeom prst="roundRect">
            <a:avLst>
              <a:gd name="adj" fmla="val 3200"/>
            </a:avLst>
          </a:prstGeom>
          <a:solidFill>
            <a:srgbClr val="221D3F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35824" y="1517904"/>
            <a:ext cx="438912" cy="438912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9941" y="1632021"/>
            <a:ext cx="210678" cy="21067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8302752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 anywhere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7772400" y="2066544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state — WarpNode hierarchy, meshes, BlendConfig — serializes to versioned JSON or binary project files at any step, and round-trips back.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7498080" y="3749040"/>
            <a:ext cx="4142232" cy="2377440"/>
          </a:xfrm>
          <a:prstGeom prst="roundRect">
            <a:avLst>
              <a:gd name="adj" fmla="val 3077"/>
            </a:avLst>
          </a:prstGeom>
          <a:solidFill>
            <a:srgbClr val="221D3F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35824" y="3968496"/>
            <a:ext cx="438912" cy="438912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941" y="4082613"/>
            <a:ext cx="210678" cy="210678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8302752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contract, any host</a:t>
            </a:r>
            <a:endParaRPr lang="en-US" sz="1500" dirty="0"/>
          </a:p>
        </p:txBody>
      </p:sp>
      <p:sp>
        <p:nvSpPr>
          <p:cNvPr id="52" name="Text 48"/>
          <p:cNvSpPr/>
          <p:nvPr/>
        </p:nvSpPr>
        <p:spPr>
          <a:xfrm>
            <a:off x="7772400" y="4517136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1–6 look identical from Unity C#, Unreal C++ / Blueprints, or a plain C program — the C ABI is the same everywhere; only the thin wrapper changes.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GrayCode Calibration, Start to Finish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121408" cy="2468880"/>
          </a:xfrm>
          <a:prstGeom prst="roundRect">
            <a:avLst>
              <a:gd name="adj" fmla="val 3448"/>
            </a:avLst>
          </a:prstGeom>
          <a:solidFill>
            <a:srgbClr val="221D3F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682496"/>
            <a:ext cx="566928" cy="566928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943" y="1818559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23957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emits the GrayCode structured-light pattern set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2679192" y="2697480"/>
            <a:ext cx="182880" cy="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71216" y="1463040"/>
            <a:ext cx="2121408" cy="2468880"/>
          </a:xfrm>
          <a:prstGeom prst="roundRect">
            <a:avLst>
              <a:gd name="adj" fmla="val 3448"/>
            </a:avLst>
          </a:prstGeom>
          <a:solidFill>
            <a:srgbClr val="221D3F"/>
          </a:solidFill>
          <a:ln/>
        </p:spPr>
      </p:sp>
      <p:sp>
        <p:nvSpPr>
          <p:cNvPr id="15" name="Shape 12"/>
          <p:cNvSpPr/>
          <p:nvPr/>
        </p:nvSpPr>
        <p:spPr>
          <a:xfrm>
            <a:off x="3648456" y="1682496"/>
            <a:ext cx="566928" cy="566928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519" y="1818559"/>
            <a:ext cx="294803" cy="29480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80944" y="23957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Project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1752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flashes the patterns onto the physical surface</a:t>
            </a:r>
            <a:endParaRPr lang="en-US" sz="1020" dirty="0"/>
          </a:p>
        </p:txBody>
      </p:sp>
      <p:sp>
        <p:nvSpPr>
          <p:cNvPr id="19" name="Shape 15"/>
          <p:cNvSpPr/>
          <p:nvPr/>
        </p:nvSpPr>
        <p:spPr>
          <a:xfrm>
            <a:off x="5001768" y="2697480"/>
            <a:ext cx="182880" cy="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193792" y="1463040"/>
            <a:ext cx="2121408" cy="2468880"/>
          </a:xfrm>
          <a:prstGeom prst="roundRect">
            <a:avLst>
              <a:gd name="adj" fmla="val 3448"/>
            </a:avLst>
          </a:prstGeom>
          <a:solidFill>
            <a:srgbClr val="221D3F"/>
          </a:solidFill>
          <a:ln/>
        </p:spPr>
      </p:sp>
      <p:sp>
        <p:nvSpPr>
          <p:cNvPr id="21" name="Shape 17"/>
          <p:cNvSpPr/>
          <p:nvPr/>
        </p:nvSpPr>
        <p:spPr>
          <a:xfrm>
            <a:off x="5971032" y="1682496"/>
            <a:ext cx="566928" cy="566928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095" y="1818559"/>
            <a:ext cx="294803" cy="2948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03520" y="23957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Capture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340096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grabs frames itself via cv::VideoCapture — off the host main thread</a:t>
            </a:r>
            <a:endParaRPr lang="en-US" sz="1020" dirty="0"/>
          </a:p>
        </p:txBody>
      </p:sp>
      <p:sp>
        <p:nvSpPr>
          <p:cNvPr id="25" name="Shape 20"/>
          <p:cNvSpPr/>
          <p:nvPr/>
        </p:nvSpPr>
        <p:spPr>
          <a:xfrm>
            <a:off x="7324344" y="2697480"/>
            <a:ext cx="182880" cy="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516368" y="1463040"/>
            <a:ext cx="2121408" cy="2468880"/>
          </a:xfrm>
          <a:prstGeom prst="roundRect">
            <a:avLst>
              <a:gd name="adj" fmla="val 3448"/>
            </a:avLst>
          </a:prstGeom>
          <a:solidFill>
            <a:srgbClr val="221D3F"/>
          </a:solidFill>
          <a:ln/>
        </p:spPr>
      </p:sp>
      <p:sp>
        <p:nvSpPr>
          <p:cNvPr id="27" name="Shape 22"/>
          <p:cNvSpPr/>
          <p:nvPr/>
        </p:nvSpPr>
        <p:spPr>
          <a:xfrm>
            <a:off x="8293608" y="1682496"/>
            <a:ext cx="566928" cy="566928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71" y="1818559"/>
            <a:ext cx="294803" cy="29480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26096" y="23957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Decode + triangulate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662672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correspondences solved, 3D points triangulated</a:t>
            </a:r>
            <a:endParaRPr lang="en-US" sz="1020" dirty="0"/>
          </a:p>
        </p:txBody>
      </p:sp>
      <p:sp>
        <p:nvSpPr>
          <p:cNvPr id="31" name="Shape 25"/>
          <p:cNvSpPr/>
          <p:nvPr/>
        </p:nvSpPr>
        <p:spPr>
          <a:xfrm>
            <a:off x="9646920" y="2697480"/>
            <a:ext cx="182880" cy="0"/>
          </a:xfrm>
          <a:prstGeom prst="line">
            <a:avLst/>
          </a:prstGeom>
          <a:noFill/>
          <a:ln w="25400">
            <a:solidFill>
              <a:srgbClr val="3EE6C4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9838944" y="1463040"/>
            <a:ext cx="2121408" cy="2468880"/>
          </a:xfrm>
          <a:prstGeom prst="roundRect">
            <a:avLst>
              <a:gd name="adj" fmla="val 3448"/>
            </a:avLst>
          </a:prstGeom>
          <a:solidFill>
            <a:srgbClr val="221D3F"/>
          </a:solidFill>
          <a:ln/>
        </p:spPr>
      </p:sp>
      <p:sp>
        <p:nvSpPr>
          <p:cNvPr id="33" name="Shape 27"/>
          <p:cNvSpPr/>
          <p:nvPr/>
        </p:nvSpPr>
        <p:spPr>
          <a:xfrm>
            <a:off x="10616184" y="1682496"/>
            <a:ext cx="566928" cy="566928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2247" y="1818559"/>
            <a:ext cx="294803" cy="29480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948672" y="23957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Surface mesh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985248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Pixel-perfect 3D mesh of the real surface, ready for warping</a:t>
            </a:r>
            <a:endParaRPr lang="en-US" sz="1020" dirty="0"/>
          </a:p>
        </p:txBody>
      </p:sp>
      <p:sp>
        <p:nvSpPr>
          <p:cNvPr id="37" name="Shape 30"/>
          <p:cNvSpPr/>
          <p:nvPr/>
        </p:nvSpPr>
        <p:spPr>
          <a:xfrm>
            <a:off x="548640" y="434340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221D3F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22960" y="4617720"/>
            <a:ext cx="493776" cy="493776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342" y="4746102"/>
            <a:ext cx="237012" cy="23701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499616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decoded mesh feeds straight into the WarpNode graph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1499616" y="49834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calibration pass replaces manual corner-pinning: the triangulated surface becomes the projection target, and the warp engine aligns content to it. In Unity this is one click — Calibration menu → Start Calibration.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UNITY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 Package + Guided Setup Wizard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02336" cy="40233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13533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33856" y="166420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 → “Add package from disk...” → select com.viitorx.pmsdk/package.json — native binaries import automatically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49808" y="1792224"/>
            <a:ext cx="0" cy="713232"/>
          </a:xfrm>
          <a:prstGeom prst="line">
            <a:avLst/>
          </a:prstGeom>
          <a:noFill/>
          <a:ln w="25400">
            <a:solidFill>
              <a:srgbClr val="3A34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542032"/>
            <a:ext cx="402336" cy="402336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25237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Setup Wizard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3856" y="28346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Projection Mapping → Setup Wizard; configure projector + physical camera on-screen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49808" y="2962656"/>
            <a:ext cx="0" cy="713232"/>
          </a:xfrm>
          <a:prstGeom prst="line">
            <a:avLst/>
          </a:prstGeom>
          <a:noFill/>
          <a:ln w="25400">
            <a:solidFill>
              <a:srgbClr val="3A34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3712464"/>
            <a:ext cx="402336" cy="402336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" y="3694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generated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33856" y="4005072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creates the DeformationField, WarpNode and Mesh for your scene — zero manual wiring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49808" y="4133088"/>
            <a:ext cx="0" cy="713232"/>
          </a:xfrm>
          <a:prstGeom prst="line">
            <a:avLst/>
          </a:prstGeom>
          <a:noFill/>
          <a:ln w="25400">
            <a:solidFill>
              <a:srgbClr val="3A34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882896"/>
            <a:ext cx="402336" cy="402336"/>
          </a:xfrm>
          <a:prstGeom prst="ellipse">
            <a:avLst/>
          </a:prstGeom>
          <a:solidFill>
            <a:srgbClr val="2A2452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82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3856" y="4864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GrayCode calibration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33856" y="5175504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menu → pick camera → Start Calibration; the SDK builds a pixel-perfect surface mesh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6629400" y="1371600"/>
            <a:ext cx="5010912" cy="3291840"/>
          </a:xfrm>
          <a:prstGeom prst="roundRect">
            <a:avLst>
              <a:gd name="adj" fmla="val 2222"/>
            </a:avLst>
          </a:prstGeom>
          <a:solidFill>
            <a:srgbClr val="0F0D2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ProjectionMapper.cs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1847088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PMSDK;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Create a Warp Node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IntPtr warpNode =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NativeBindings.CreateWarpNode("MyProjector");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Load a 3D mesh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IntPtr mesh =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NativeBindings.LoadMesh("path/to/mesh.obj");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Process — runs entirely in native C++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NativeBindings.ProcessMesh(warpNode, mesh);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4892040"/>
            <a:ext cx="5010912" cy="1234440"/>
          </a:xfrm>
          <a:prstGeom prst="roundRect">
            <a:avLst>
              <a:gd name="adj" fmla="val 5926"/>
            </a:avLst>
          </a:prstGeom>
          <a:solidFill>
            <a:srgbClr val="221D3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5120640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362" y="5230002"/>
            <a:ext cx="201900" cy="2019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424928" y="5074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Multithreaded native core — the Unity main thread never blocks; C# is a thin P/Invoke wrapper with no algorithms.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UNREAL ENGINE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Plugin, Blueprints or C++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02336" cy="402336"/>
          </a:xfrm>
          <a:prstGeom prst="ellipse">
            <a:avLst/>
          </a:prstGeom>
          <a:solidFill>
            <a:srgbClr val="8B7CF0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13533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plugin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33856" y="166420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ProjectionMapping folder in YourProject/Plugins/ — ProjectionMapping.uplugin at its root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49808" y="1792224"/>
            <a:ext cx="0" cy="713232"/>
          </a:xfrm>
          <a:prstGeom prst="line">
            <a:avLst/>
          </a:prstGeom>
          <a:noFill/>
          <a:ln w="25400">
            <a:solidFill>
              <a:srgbClr val="3A346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2542032"/>
            <a:ext cx="402336" cy="402336"/>
          </a:xfrm>
          <a:prstGeom prst="ellipse">
            <a:avLst/>
          </a:prstGeom>
          <a:solidFill>
            <a:srgbClr val="2A2452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25237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&amp; enable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3856" y="28346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project, accept the module rebuild prompt, enable under Edit → Plugins → Projection Mapping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49808" y="2962656"/>
            <a:ext cx="0" cy="713232"/>
          </a:xfrm>
          <a:prstGeom prst="line">
            <a:avLst/>
          </a:prstGeom>
          <a:noFill/>
          <a:ln w="25400">
            <a:solidFill>
              <a:srgbClr val="3A34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3712464"/>
            <a:ext cx="402336" cy="402336"/>
          </a:xfrm>
          <a:prstGeom prst="ellipse">
            <a:avLst/>
          </a:prstGeom>
          <a:solidFill>
            <a:srgbClr val="2A2452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" y="36941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33856" y="4005072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any Event Graph → search “Projection Mapping” — Create Warp Node, Apply Deformation Field on static or procedural meshes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749808" y="4133088"/>
            <a:ext cx="0" cy="713232"/>
          </a:xfrm>
          <a:prstGeom prst="line">
            <a:avLst/>
          </a:prstGeom>
          <a:noFill/>
          <a:ln w="25400">
            <a:solidFill>
              <a:srgbClr val="3A34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882896"/>
            <a:ext cx="402336" cy="402336"/>
          </a:xfrm>
          <a:prstGeom prst="ellipse">
            <a:avLst/>
          </a:prstGeom>
          <a:solidFill>
            <a:srgbClr val="2A2452"/>
          </a:solidFill>
          <a:ln w="12700">
            <a:solidFill>
              <a:srgbClr val="8B7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82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7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33856" y="48646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modules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33856" y="5175504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“ProjectionMappingSDK” to PublicDependencyModuleNames in Build.cs, include the C-API headers, call the native API directly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6629400" y="1371600"/>
            <a:ext cx="5010912" cy="3017520"/>
          </a:xfrm>
          <a:prstGeom prst="roundRect">
            <a:avLst>
              <a:gd name="adj" fmla="val 2424"/>
            </a:avLst>
          </a:prstGeom>
          <a:solidFill>
            <a:srgbClr val="0F0D2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MyActor.cpp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1847088"/>
            <a:ext cx="4572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"PMSDK/C_API/WarpAPI.h"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"PMSDK/C_API/GeometryAPI.h"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AMyActor::StartMapping()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Call the native C-API directly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pmsdk_warp_node_h warpNode =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pmsdk_warp_node_create("MyProjector");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setup and projection logic ...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4617720"/>
            <a:ext cx="5010912" cy="1508760"/>
          </a:xfrm>
          <a:prstGeom prst="roundRect">
            <a:avLst>
              <a:gd name="adj" fmla="val 4848"/>
            </a:avLst>
          </a:prstGeom>
          <a:solidFill>
            <a:srgbClr val="221D3F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4846320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362" y="4955682"/>
            <a:ext cx="201900" cy="2019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424928" y="4754880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 dynamically loads ProjectionMappingSDK.dll from Source/ThirdParty/ProjectionMappingSDK/bin/Release/ — keep the bin/ folder when packaging.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905695" y="0"/>
            <a:ext cx="2286000" cy="1371600"/>
          </a:xfrm>
          <a:prstGeom prst="rtTriangle">
            <a:avLst/>
          </a:prstGeom>
          <a:solidFill>
            <a:srgbClr val="3EE6C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10774375" y="0"/>
            <a:ext cx="1417320" cy="868680"/>
          </a:xfrm>
          <a:prstGeom prst="rtTriangle">
            <a:avLst/>
          </a:prstGeom>
          <a:solidFill>
            <a:srgbClr val="8B7CF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07647" y="146304"/>
            <a:ext cx="128016" cy="128016"/>
          </a:xfrm>
          <a:prstGeom prst="ellipse">
            <a:avLst/>
          </a:prstGeom>
          <a:solidFill>
            <a:srgbClr val="3EE6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System, Quality Bar, Milestones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058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221D3F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554480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6733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2121408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≥ 3.25 + Ninja presets (MSVC, Clang, GCC) + VS2022 generator preset</a:t>
            </a:r>
            <a:endParaRPr lang="en-US" sz="113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vcpkg vendored as a pinned submodule — reproducible dependencies, zero global installs</a:t>
            </a:r>
            <a:endParaRPr lang="en-US" sz="113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gated behind manifest features: tests → gtest, calibration → OpenCV — consumers skip what they don't use</a:t>
            </a:r>
            <a:endParaRPr lang="en-US" sz="113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matrix: windows-msvc, linux-gcc, linux-clang, macos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199632" y="1325880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221D3F"/>
          </a:solidFill>
          <a:ln/>
        </p:spPr>
      </p:sp>
      <p:sp>
        <p:nvSpPr>
          <p:cNvPr id="14" name="Shape 11"/>
          <p:cNvSpPr/>
          <p:nvPr/>
        </p:nvSpPr>
        <p:spPr>
          <a:xfrm>
            <a:off x="6455664" y="1554480"/>
            <a:ext cx="457200" cy="457200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67335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0880" y="1600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19672" y="2121408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GoogleTest suites mirror the module layout — 90% coverage target, exhaustive math edge cases</a:t>
            </a:r>
            <a:endParaRPr lang="en-US" sz="113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warnings everywhere: /W4 · -Wall -Wextra -Wpedantic -Wshadow -Wconversion; /WX in CI</a:t>
            </a:r>
            <a:endParaRPr lang="en-US" sz="113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on every public function; docs generated from source</a:t>
            </a:r>
            <a:endParaRPr lang="en-US" sz="113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 performance pass: SIMD + multithreading through the hot paths</a:t>
            </a:r>
            <a:endParaRPr lang="en-US" sz="1130" dirty="0"/>
          </a:p>
        </p:txBody>
      </p:sp>
      <p:sp>
        <p:nvSpPr>
          <p:cNvPr id="18" name="Text 14"/>
          <p:cNvSpPr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MILESTONES — ONE AT A TIME, EACH MUST COMPILE, PASS TESTS AND KEEP EXAMPLES BUILDING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70941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0941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75488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226439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226439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030986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781937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781937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586484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337435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337435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2141982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2892933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892933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697480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448431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48431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252978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003929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003929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3808476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4559427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59427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4363974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5114925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114925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4919472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670423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70423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5474970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API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6225921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225921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6030468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6781419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781419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54" name="Text 50"/>
          <p:cNvSpPr/>
          <p:nvPr/>
        </p:nvSpPr>
        <p:spPr>
          <a:xfrm>
            <a:off x="6585966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7336917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336917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7141464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800" dirty="0"/>
          </a:p>
        </p:txBody>
      </p:sp>
      <p:sp>
        <p:nvSpPr>
          <p:cNvPr id="58" name="Shape 54"/>
          <p:cNvSpPr/>
          <p:nvPr/>
        </p:nvSpPr>
        <p:spPr>
          <a:xfrm>
            <a:off x="7892415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7892415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7696962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8447913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8447913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3" name="Text 59"/>
          <p:cNvSpPr/>
          <p:nvPr/>
        </p:nvSpPr>
        <p:spPr>
          <a:xfrm>
            <a:off x="8252460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9003411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003411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66" name="Text 62"/>
          <p:cNvSpPr/>
          <p:nvPr/>
        </p:nvSpPr>
        <p:spPr>
          <a:xfrm>
            <a:off x="8807958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CV+</a:t>
            </a:r>
            <a:endParaRPr lang="en-US" sz="800" dirty="0"/>
          </a:p>
        </p:txBody>
      </p:sp>
      <p:sp>
        <p:nvSpPr>
          <p:cNvPr id="67" name="Shape 63"/>
          <p:cNvSpPr/>
          <p:nvPr/>
        </p:nvSpPr>
        <p:spPr>
          <a:xfrm>
            <a:off x="9558909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9558909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69" name="Text 65"/>
          <p:cNvSpPr/>
          <p:nvPr/>
        </p:nvSpPr>
        <p:spPr>
          <a:xfrm>
            <a:off x="9363456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GrayCode</a:t>
            </a:r>
            <a:endParaRPr lang="en-US" sz="800" dirty="0"/>
          </a:p>
        </p:txBody>
      </p:sp>
      <p:sp>
        <p:nvSpPr>
          <p:cNvPr id="70" name="Shape 66"/>
          <p:cNvSpPr/>
          <p:nvPr/>
        </p:nvSpPr>
        <p:spPr>
          <a:xfrm>
            <a:off x="10114407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10114407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72" name="Text 68"/>
          <p:cNvSpPr/>
          <p:nvPr/>
        </p:nvSpPr>
        <p:spPr>
          <a:xfrm>
            <a:off x="9918954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800" dirty="0"/>
          </a:p>
        </p:txBody>
      </p:sp>
      <p:sp>
        <p:nvSpPr>
          <p:cNvPr id="73" name="Shape 69"/>
          <p:cNvSpPr/>
          <p:nvPr/>
        </p:nvSpPr>
        <p:spPr>
          <a:xfrm>
            <a:off x="10669905" y="4983480"/>
            <a:ext cx="310896" cy="310896"/>
          </a:xfrm>
          <a:prstGeom prst="ellipse">
            <a:avLst/>
          </a:prstGeom>
          <a:solidFill>
            <a:srgbClr val="16132A"/>
          </a:solidFill>
          <a:ln w="12700">
            <a:solidFill>
              <a:srgbClr val="A49DC8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10669905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75" name="Text 71"/>
          <p:cNvSpPr/>
          <p:nvPr/>
        </p:nvSpPr>
        <p:spPr>
          <a:xfrm>
            <a:off x="10474452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800" dirty="0"/>
          </a:p>
        </p:txBody>
      </p:sp>
      <p:sp>
        <p:nvSpPr>
          <p:cNvPr id="76" name="Shape 72"/>
          <p:cNvSpPr/>
          <p:nvPr/>
        </p:nvSpPr>
        <p:spPr>
          <a:xfrm>
            <a:off x="11225403" y="4983480"/>
            <a:ext cx="310896" cy="310896"/>
          </a:xfrm>
          <a:prstGeom prst="ellipse">
            <a:avLst/>
          </a:prstGeom>
          <a:solidFill>
            <a:srgbClr val="3EE6C4"/>
          </a:solidFill>
          <a:ln w="12700">
            <a:solidFill>
              <a:srgbClr val="3EE6C4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11225403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78" name="Text 74"/>
          <p:cNvSpPr/>
          <p:nvPr/>
        </p:nvSpPr>
        <p:spPr>
          <a:xfrm>
            <a:off x="11029950" y="5340096"/>
            <a:ext cx="7018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00" dirty="0"/>
          </a:p>
        </p:txBody>
      </p:sp>
      <p:sp>
        <p:nvSpPr>
          <p:cNvPr id="79" name="Text 75"/>
          <p:cNvSpPr/>
          <p:nvPr/>
        </p:nvSpPr>
        <p:spPr>
          <a:xfrm>
            <a:off x="548640" y="5806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(19 of 20)      </a:t>
            </a:r>
            <a:pPr indent="0" marL="0"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15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— M19 Plugin SDK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1280160"/>
            <a:ext cx="12188952" cy="5577840"/>
          </a:xfrm>
          <a:prstGeom prst="rtTriangle">
            <a:avLst/>
          </a:prstGeom>
          <a:solidFill>
            <a:srgbClr val="3EE6C4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3108960"/>
            <a:ext cx="8686800" cy="3749040"/>
          </a:xfrm>
          <a:prstGeom prst="rtTriangle">
            <a:avLst/>
          </a:prstGeom>
          <a:solidFill>
            <a:srgbClr val="8B7CF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498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v1.0.3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4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ProjectionMappingSDK_v1.0.3_Windows.zip — everything a host team needs, in one download.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548640"/>
            <a:ext cx="4892040" cy="3520440"/>
          </a:xfrm>
          <a:prstGeom prst="roundRect">
            <a:avLst>
              <a:gd name="adj" fmla="val 2078"/>
            </a:avLst>
          </a:prstGeom>
          <a:solidFill>
            <a:srgbClr val="0F0D22"/>
          </a:solidFill>
          <a:ln w="12700">
            <a:solidFill>
              <a:srgbClr val="3A34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694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9D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contents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95160" y="1024128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ProjectionMappingSDK_v1.0.3_Windows/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C_API/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bin/ProjectionMappingSDK.dll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include/PMSDK/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lib/ProjectionMappingSDK.lib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Unity/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com.viitorx.pmsdk/   (UPM package)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README.md            (quick start)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Unreal/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 ProjectionMapping/   (.uplugin)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+-- README.md            (quick start)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02" y="3629802"/>
            <a:ext cx="201900" cy="201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352044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 </a:t>
            </a:r>
            <a:pPr indent="0" marL="0">
              <a:buNone/>
            </a:pPr>
            <a:r>
              <a:rPr lang="en-US" sz="130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github.com/vinayak-vc/ProjectionMappingC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4178808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02" y="4288170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417880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package   </a:t>
            </a:r>
            <a:pPr indent="0" marL="0">
              <a:buNone/>
            </a:pPr>
            <a:r>
              <a:rPr lang="en-US" sz="130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github.com/vinayak-vc/ProjectionMappingC/releases/tag/1.0.3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77240" y="4837176"/>
            <a:ext cx="420624" cy="420624"/>
          </a:xfrm>
          <a:prstGeom prst="ellipse">
            <a:avLst/>
          </a:prstGeom>
          <a:solidFill>
            <a:srgbClr val="2A245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4946538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83717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  </a:t>
            </a:r>
            <a:pPr indent="0" marL="0">
              <a:buNone/>
            </a:pPr>
            <a:r>
              <a:rPr lang="en-US" sz="1300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— overview, architecture, roadmap, decisions + Doxygen API reference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806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3E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anything. Any engine. One SDK.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2026-07-14T06:32:28Z</dcterms:created>
  <dcterms:modified xsi:type="dcterms:W3CDTF">2026-07-14T06:32:28Z</dcterms:modified>
</cp:coreProperties>
</file>