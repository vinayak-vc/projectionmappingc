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Projection Mapping SDK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Features &amp; Technical Overview</a:t>
            </a:r>
          </a:p>
          <a:p>
            <a:r>
              <a:t>Version 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(Non-Technical)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What is the Projection Mapping SDK?</a:t>
            </a:r>
          </a:p>
          <a:p>
            <a:pPr lvl="1">
              <a:defRPr sz="1800"/>
            </a:pPr>
            <a:r>
              <a:t>An engineagnostic toolset for realtime projection mapping.</a:t>
            </a:r>
          </a:p>
          <a:p>
            <a:pPr lvl="1">
              <a:defRPr sz="1800"/>
            </a:pPr>
            <a:r>
              <a:t>Maps digital content onto complex realworld physical objects.</a:t>
            </a:r>
          </a:p>
          <a:p>
            <a:pPr lvl="1">
              <a:defRPr sz="1800"/>
            </a:pPr>
            <a:r>
              <a:t>Provides realtime warping, edge blending, and projector calibration.</a:t>
            </a:r>
          </a:p>
          <a:p>
            <a:pPr lvl="1">
              <a:defRPr sz="1800"/>
            </a:pPr>
            <a:r>
              <a:t>Works outofthebox with Unity and Unreal Engine 5.</a:t>
            </a:r>
          </a:p>
          <a:p>
            <a:pPr lvl="1">
              <a:defRPr sz="1800"/>
            </a:pPr>
            <a:r>
              <a:t>Allows multiprojector setups with seamless overlaps.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 (Technical)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+---------------------------------------+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|      Unity / Unreal Applications      |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+-------------------+-------------------+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|  C# (Unity API)   | Blueprints (UE5)  |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+-------------------+-------------------+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|      C-API Layer (PImpl, ABI-Safe)    |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+-------------------+-------------------+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|           C++ Native SDK              |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| [Math] [Geometry] [Warp] [Calibration]|</a:t>
            </a:r>
          </a:p>
          <a:p>
            <a:pPr>
              <a:lnSpc>
                <a:spcPct val="100000"/>
              </a:lnSpc>
              <a:defRPr sz="1200">
                <a:latin typeface="Courier New"/>
              </a:defRPr>
            </a:pPr>
            <a:r>
              <a:t> +---------------------------------------+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Core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Robust Error Handling: No C++ exceptions cross the ABI boundary.</a:t>
            </a:r>
          </a:p>
          <a:p>
            <a:pPr lvl="1">
              <a:defRPr sz="1800"/>
            </a:pPr>
            <a:r>
              <a:t>Context Lifecycle: Root Context object manages state without global singletons.</a:t>
            </a:r>
          </a:p>
          <a:p>
            <a:pPr lvl="1">
              <a:defRPr sz="1800"/>
            </a:pPr>
            <a:r>
              <a:t>Threadsafe Logging: Injectable logging callbacks to capture C++ logs in the Engine console.</a:t>
            </a:r>
          </a:p>
          <a:p>
            <a:pPr lvl="1">
              <a:defRPr sz="1800"/>
            </a:pPr>
            <a:r>
              <a:t>HandleRegistry: Generationchecked 64bit handles for memorysafe CAPI access.</a:t>
            </a:r>
          </a:p>
          <a:p>
            <a:pPr lvl="1">
              <a:defRPr sz="1800"/>
            </a:pPr>
            <a:r>
              <a:t>Config Store: Threadsafe, typed Key/Value configuration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Math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Zerodependency custom Math engine (no GLM in public headers).</a:t>
            </a:r>
          </a:p>
          <a:p>
            <a:pPr lvl="1">
              <a:defRPr sz="1800"/>
            </a:pPr>
            <a:r>
              <a:t>SIMDready layouts (16byte cache alignment).</a:t>
            </a:r>
          </a:p>
          <a:p>
            <a:pPr lvl="1">
              <a:defRPr sz="1800"/>
            </a:pPr>
            <a:r>
              <a:t>Core Types: Vector2, Vector3, Vector4, Matrix4, Quaternion, Transform.</a:t>
            </a:r>
          </a:p>
          <a:p>
            <a:pPr lvl="1">
              <a:defRPr sz="1800"/>
            </a:pPr>
            <a:r>
              <a:t>Geometry primitives: Ray, Plane, BoundingBox.</a:t>
            </a:r>
          </a:p>
          <a:p>
            <a:pPr lvl="1">
              <a:defRPr sz="1800"/>
            </a:pPr>
            <a:r>
              <a:t>Submillisecond matrix multiplication optimized for AVX2/NEON.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Geometry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Highperformance Mesh data structures.</a:t>
            </a:r>
          </a:p>
          <a:p>
            <a:pPr lvl="1">
              <a:defRPr sz="1800"/>
            </a:pPr>
            <a:r>
              <a:t>Spatial Acceleration: BVH and KDTree implementations for rapid raycasting.</a:t>
            </a:r>
          </a:p>
          <a:p>
            <a:pPr lvl="1">
              <a:defRPr sz="1800"/>
            </a:pPr>
            <a:r>
              <a:t>Curves &amp; Surfaces: Bezier Curves, Splines, and UV Mapping utilities.</a:t>
            </a:r>
          </a:p>
          <a:p>
            <a:pPr lvl="1">
              <a:defRPr sz="1800"/>
            </a:pPr>
            <a:r>
              <a:t>Mesh Optimizer: Face welding and smooth normal generation.</a:t>
            </a:r>
          </a:p>
          <a:p>
            <a:pPr lvl="1">
              <a:defRPr sz="1800"/>
            </a:pPr>
            <a:r>
              <a:t>ThreadSafe: Designed specifically for multithreaded access without race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Warp Engine &amp; Deformations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Realtime vertex manipulations using DeformationFields.</a:t>
            </a:r>
          </a:p>
          <a:p>
            <a:pPr lvl="1">
              <a:defRPr sz="1800"/>
            </a:pPr>
            <a:r>
              <a:t>Support for GridWarp (lattice points) and BezierPatch deformations.</a:t>
            </a:r>
          </a:p>
          <a:p>
            <a:pPr lvl="1">
              <a:defRPr sz="1800"/>
            </a:pPr>
            <a:r>
              <a:t>WarpNode hierarchy for complex projector transformations.</a:t>
            </a:r>
          </a:p>
          <a:p>
            <a:pPr lvl="1">
              <a:defRPr sz="1800"/>
            </a:pPr>
            <a:r>
              <a:t>Parallel MapReduce Mesh Normals: Fully locksfree multicore normal recalculation.</a:t>
            </a:r>
          </a:p>
          <a:p>
            <a:pPr lvl="1">
              <a:defRPr sz="1800"/>
            </a:pPr>
            <a:r>
              <a:t>Branchless Evaluation: std::clamp used for branchless math to allow vectorization.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Blend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Resolves overlapping projector boundaries.</a:t>
            </a:r>
          </a:p>
          <a:p>
            <a:pPr lvl="1">
              <a:defRPr sz="1800"/>
            </a:pPr>
            <a:r>
              <a:t>Edge Blending Math: Gamma correction and softedge gradient falloffs.</a:t>
            </a:r>
          </a:p>
          <a:p>
            <a:pPr lvl="1">
              <a:defRPr sz="1800"/>
            </a:pPr>
            <a:r>
              <a:t>Luminance Compensation: Matches blacklevels across different projectors.</a:t>
            </a:r>
          </a:p>
          <a:p>
            <a:pPr lvl="1">
              <a:defRPr sz="1800"/>
            </a:pPr>
            <a:r>
              <a:t>Mask Generator: Dynamically calculates physical masks to block stray light.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Calibration (OpenCV 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Fully integrated OpenCV (hidden behind PImpl so no DLL ABI spillage occurs).</a:t>
            </a:r>
          </a:p>
          <a:p>
            <a:pPr lvl="1">
              <a:defRPr sz="1800"/>
            </a:pPr>
            <a:r>
              <a:t>Camera Intrinsics &amp; Extrinsics calibration workflows.</a:t>
            </a:r>
          </a:p>
          <a:p>
            <a:pPr lvl="1">
              <a:defRPr sz="1800"/>
            </a:pPr>
            <a:r>
              <a:t>GrayCode Decoder: Flashes structured light patterns to automatically map physical pixels to projector pixels.</a:t>
            </a:r>
          </a:p>
          <a:p>
            <a:pPr lvl="1">
              <a:defRPr sz="1800"/>
            </a:pPr>
            <a:r>
              <a:t>Direct VideoCapture: C++ handles camera capture to prevent Unity/Unreal main thread freezing.</a:t>
            </a:r>
          </a:p>
          <a:p>
            <a:pPr lvl="1">
              <a:defRPr sz="1800"/>
            </a:pPr>
            <a:r>
              <a:t>3D Triangulation: Converts 2D physical pixels into exact 3D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std::execution::par_unseq is utilized extensively across hotpaths.</a:t>
            </a:r>
          </a:p>
          <a:p>
            <a:pPr lvl="1">
              <a:defRPr sz="1800"/>
            </a:pPr>
            <a:r>
              <a:t>Matrix crunching scales automatically across all available CPU cores.</a:t>
            </a:r>
          </a:p>
          <a:p>
            <a:pPr lvl="1">
              <a:defRPr sz="1800"/>
            </a:pPr>
            <a:r>
              <a:t>Cachefriendly memory layouts prevent CPU pipeline stalling.</a:t>
            </a:r>
          </a:p>
          <a:p>
            <a:pPr lvl="1">
              <a:defRPr sz="1800"/>
            </a:pPr>
            <a:r>
              <a:t>100x100 Grid Warps execute in less than 1ms.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Unity Integration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Installation: Direct draganddrop via Unity Package Manager.</a:t>
            </a:r>
          </a:p>
          <a:p>
            <a:pPr lvl="1">
              <a:defRPr sz="1800"/>
            </a:pPr>
            <a:r>
              <a:t>Interactive Setup Wizard: Guided UI (Tools &gt; Projection Mapping &gt; Setup Wizard).</a:t>
            </a:r>
          </a:p>
          <a:p>
            <a:pPr lvl="1">
              <a:defRPr sz="1800"/>
            </a:pPr>
            <a:r>
              <a:t>NativeBindings.cs: Safe C# interop using IntPtr handles.</a:t>
            </a:r>
          </a:p>
          <a:p>
            <a:pPr lvl="1">
              <a:defRPr sz="1800"/>
            </a:pPr>
            <a:r>
              <a:t>GrayCode Calibration Window directly inside the Unity Editor.</a:t>
            </a:r>
          </a:p>
          <a:p>
            <a:pPr lvl="1">
              <a:defRPr sz="1800"/>
            </a:pPr>
            <a:r>
              <a:t>Zero configuration required: The native DLL is preinjected into the package.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Unreal Engine 5 Integration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Installation: Drop into Plugins/ProjectionMapping.</a:t>
            </a:r>
          </a:p>
          <a:p>
            <a:pPr lvl="1">
              <a:defRPr sz="1800"/>
            </a:pPr>
            <a:r>
              <a:t>Blueprints: Native Blueprint nodes (e.g., 'Create Warp Node', 'Apply Deformation Field').</a:t>
            </a:r>
          </a:p>
          <a:p>
            <a:pPr lvl="1">
              <a:defRPr sz="1800"/>
            </a:pPr>
            <a:r>
              <a:t>C++ Modules: Simply add 'ProjectionMappingSDK' to PublicDependencyModuleNames.</a:t>
            </a:r>
          </a:p>
          <a:p>
            <a:pPr lvl="1">
              <a:defRPr sz="1800"/>
            </a:pPr>
            <a:r>
              <a:t>Works with Static Meshes and Procedural Mesh Components.</a:t>
            </a:r>
          </a:p>
          <a:p>
            <a:pPr lvl="1">
              <a:defRPr sz="1800"/>
            </a:pPr>
            <a:r>
              <a:t>Live C++ native execution directly inside the Unreal Viewport.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Release Packaging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800"/>
            </a:pPr>
            <a:r>
              <a:t>build_release.py automatically bumps version and compiles MSVC Binaries.</a:t>
            </a:r>
          </a:p>
          <a:p>
            <a:pPr lvl="1">
              <a:defRPr sz="1800"/>
            </a:pPr>
            <a:r>
              <a:t>Automated Python scripts bundle the SDK, Unity Package, and Unreal Plugin into a clean ZIP.</a:t>
            </a:r>
          </a:p>
          <a:p>
            <a:pPr lvl="1">
              <a:defRPr sz="1800"/>
            </a:pPr>
            <a:r>
              <a:t>Seamless dependency injection ensures endusers don't have to compile C++ themselves.</a:t>
            </a:r>
          </a:p>
          <a:p>
            <a:pPr lvl="1">
              <a:defRPr sz="1800"/>
            </a:pPr>
            <a:r>
              <a:t>Integrated into GitHub Actions for CI/CD across Windows, Linux, and macOS.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